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63" r:id="rId6"/>
    <p:sldId id="264" r:id="rId7"/>
    <p:sldId id="259" r:id="rId8"/>
    <p:sldId id="260" r:id="rId9"/>
    <p:sldId id="265" r:id="rId10"/>
    <p:sldId id="261" r:id="rId11"/>
  </p:sldIdLst>
  <p:sldSz cx="12192000" cy="6858000"/>
  <p:notesSz cx="6858000" cy="9144000"/>
  <p:embeddedFontLst>
    <p:embeddedFont>
      <p:font typeface="Cambria Math" panose="02040503050406030204" pitchFamily="18" charset="0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28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C73732C9-CE53-323A-FD78-C3B78293C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>
            <a:extLst>
              <a:ext uri="{FF2B5EF4-FFF2-40B4-BE49-F238E27FC236}">
                <a16:creationId xmlns:a16="http://schemas.microsoft.com/office/drawing/2014/main" id="{690922CE-38D5-B278-7C8B-890D0A1B2C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>
            <a:extLst>
              <a:ext uri="{FF2B5EF4-FFF2-40B4-BE49-F238E27FC236}">
                <a16:creationId xmlns:a16="http://schemas.microsoft.com/office/drawing/2014/main" id="{C9C629A8-1081-45C2-9AAC-7DCB7EBF4A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2101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3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ABEEF7-CD1B-0452-8F3A-B97A31F6E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8809" y="-475785"/>
            <a:ext cx="13470672" cy="7746379"/>
          </a:xfrm>
          <a:prstGeom prst="rect">
            <a:avLst/>
          </a:prstGeom>
        </p:spPr>
      </p:pic>
      <p:sp>
        <p:nvSpPr>
          <p:cNvPr id="87" name="Google Shape;87;p13"/>
          <p:cNvSpPr txBox="1"/>
          <p:nvPr/>
        </p:nvSpPr>
        <p:spPr>
          <a:xfrm>
            <a:off x="1345406" y="1838325"/>
            <a:ext cx="9501187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Моделирование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i="0" u="none" strike="noStrike" cap="none" dirty="0" err="1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мобильного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i="0" u="none" strike="noStrike" cap="none" dirty="0" err="1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робота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 с </a:t>
            </a:r>
            <a:r>
              <a:rPr lang="en-US" sz="3600" b="1" i="0" u="none" strike="noStrike" cap="none" dirty="0" err="1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дифференциальным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i="0" u="none" strike="noStrike" cap="none" dirty="0" err="1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приводом</a:t>
            </a:r>
            <a:r>
              <a:rPr lang="ru-RU" sz="3600" b="1" dirty="0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 в среде </a:t>
            </a: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Gazebo</a:t>
            </a:r>
            <a:endParaRPr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209800" y="5219700"/>
            <a:ext cx="4038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Студент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4 </a:t>
            </a:r>
            <a:r>
              <a:rPr lang="en-US" sz="16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курса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: </a:t>
            </a:r>
            <a:r>
              <a:rPr lang="en-US" sz="16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Держанский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С. А. (</a:t>
            </a:r>
            <a:r>
              <a:rPr lang="en-US" sz="16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группа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02422-ДБ)</a:t>
            </a:r>
            <a:endParaRPr sz="20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629400" y="5219700"/>
            <a:ext cx="3352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Руководитель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: </a:t>
            </a:r>
            <a:r>
              <a:rPr lang="en-US" sz="18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доцент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8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Вшивков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Ю. Ф. (</a:t>
            </a:r>
            <a:r>
              <a:rPr lang="en-US" sz="18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к.т.н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.)</a:t>
            </a:r>
            <a:endParaRPr sz="24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C1D543F-F4D1-F0A7-E076-521AD413C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8809" y="-475785"/>
            <a:ext cx="13470672" cy="7746379"/>
          </a:xfrm>
          <a:prstGeom prst="rect">
            <a:avLst/>
          </a:prstGeom>
        </p:spPr>
      </p:pic>
      <p:sp>
        <p:nvSpPr>
          <p:cNvPr id="101" name="Google Shape;101;p14"/>
          <p:cNvSpPr txBox="1"/>
          <p:nvPr/>
        </p:nvSpPr>
        <p:spPr>
          <a:xfrm>
            <a:off x="771525" y="2066800"/>
            <a:ext cx="444817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Изучить кинематику дифференциального робота и разработать его математическую модель.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Разработать 3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D</a:t>
            </a: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-модель робота с дифференциальным приводом в 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Blender</a:t>
            </a: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Создать модель робота с дифференциальным приводом в среде 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Gazebo</a:t>
            </a: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923925"/>
            <a:ext cx="11181397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Цели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и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задачи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практики</a:t>
            </a:r>
            <a:endParaRPr b="1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3566A4-1539-757F-6B98-F161CF6C5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8809" y="-475785"/>
            <a:ext cx="13470672" cy="7746379"/>
          </a:xfrm>
          <a:prstGeom prst="rect">
            <a:avLst/>
          </a:prstGeom>
        </p:spPr>
      </p:pic>
      <p:sp>
        <p:nvSpPr>
          <p:cNvPr id="125" name="Google Shape;125;p15"/>
          <p:cNvSpPr txBox="1"/>
          <p:nvPr/>
        </p:nvSpPr>
        <p:spPr>
          <a:xfrm>
            <a:off x="771525" y="923925"/>
            <a:ext cx="11181397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Математическая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модель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движения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0D0DD9-E2CB-2818-3731-372F4DA60BFF}"/>
                  </a:ext>
                </a:extLst>
              </p:cNvPr>
              <p:cNvSpPr txBox="1"/>
              <p:nvPr/>
            </p:nvSpPr>
            <p:spPr>
              <a:xfrm>
                <a:off x="842323" y="1754697"/>
                <a:ext cx="3465780" cy="10952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z="1800" smtClean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m:t>Поза робота задается тройкой</m:t>
                      </m:r>
                    </m:oMath>
                  </m:oMathPara>
                </a14:m>
                <a:endParaRPr lang="ru-RU" sz="18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ru-RU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  <m:r>
                                  <a:rPr lang="ru-RU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8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0D0DD9-E2CB-2818-3731-372F4DA60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323" y="1754697"/>
                <a:ext cx="3465780" cy="10952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6158A5-5148-9C75-A2C4-B32FF14209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234" y="1541578"/>
            <a:ext cx="4588307" cy="351299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934D46-19DD-E47B-0805-A0AF78DEC4CA}"/>
              </a:ext>
            </a:extLst>
          </p:cNvPr>
          <p:cNvSpPr txBox="1"/>
          <p:nvPr/>
        </p:nvSpPr>
        <p:spPr>
          <a:xfrm>
            <a:off x="5094096" y="5145929"/>
            <a:ext cx="6098582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Рисунок 1 – Движение робота по дуге</a:t>
            </a:r>
            <a:endParaRPr lang="ru-RU" sz="900" i="1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BAF704-BBA6-CDBC-152C-689110B96228}"/>
                  </a:ext>
                </a:extLst>
              </p:cNvPr>
              <p:cNvSpPr txBox="1"/>
              <p:nvPr/>
            </p:nvSpPr>
            <p:spPr>
              <a:xfrm>
                <a:off x="842323" y="3145781"/>
                <a:ext cx="3465780" cy="1139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Матрица поворота</a:t>
                </a:r>
                <a:br>
                  <a:rPr lang="en-US" sz="18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</a:br>
                <a:endParaRPr lang="ru-RU" sz="18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1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d>
                        <m:dPr>
                          <m:ctrlP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sz="1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ru-RU" sz="1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ru-RU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ru-RU" sz="1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ru-RU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ru-RU" sz="1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ru-RU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ru-RU" sz="1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ru-RU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ru-RU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ru-RU" sz="1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ru-RU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8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BAF704-BBA6-CDBC-152C-689110B96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323" y="3145781"/>
                <a:ext cx="3465780" cy="1139286"/>
              </a:xfrm>
              <a:prstGeom prst="rect">
                <a:avLst/>
              </a:prstGeom>
              <a:blipFill>
                <a:blip r:embed="rId6"/>
                <a:stretch>
                  <a:fillRect l="-1406" t="-21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A673CC-9D66-FEAE-BFC0-467D72635C38}"/>
                  </a:ext>
                </a:extLst>
              </p:cNvPr>
              <p:cNvSpPr txBox="1"/>
              <p:nvPr/>
            </p:nvSpPr>
            <p:spPr>
              <a:xfrm>
                <a:off x="481914" y="4862530"/>
                <a:ext cx="4223901" cy="1146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       </a:t>
                </a:r>
                <a:r>
                  <a:rPr lang="ru-RU" sz="18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Расчет скорости каждого колеса</a:t>
                </a:r>
              </a:p>
              <a:p>
                <a:endParaRPr lang="ru-RU" sz="1800" i="1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ru-RU" sz="1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ru-RU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ru-RU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𝑠𝑡𝑒𝑝</m:t>
                          </m:r>
                        </m:num>
                        <m:den>
                          <m: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sz="1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ru-RU" sz="1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ru-RU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ru-RU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𝑠𝑡𝑒𝑝</m:t>
                          </m:r>
                        </m:num>
                        <m:den>
                          <m: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ru-RU" sz="18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A673CC-9D66-FEAE-BFC0-467D72635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14" y="4862530"/>
                <a:ext cx="4223901" cy="1146661"/>
              </a:xfrm>
              <a:prstGeom prst="rect">
                <a:avLst/>
              </a:prstGeom>
              <a:blipFill>
                <a:blip r:embed="rId7"/>
                <a:stretch>
                  <a:fillRect t="-26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6DF693-C2D5-841E-4233-5A2CC52D7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8809" y="-475785"/>
            <a:ext cx="13470672" cy="7746379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C4AD0EC5-9C3F-0233-C239-2E09B59D6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Разработка 3</a:t>
            </a:r>
            <a:r>
              <a:rPr lang="en-US" dirty="0"/>
              <a:t>D-</a:t>
            </a:r>
            <a:r>
              <a:rPr lang="ru-RU" dirty="0"/>
              <a:t>модели в </a:t>
            </a:r>
            <a:r>
              <a:rPr lang="en-US" dirty="0"/>
              <a:t>blender</a:t>
            </a: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6DD98E5-B297-A126-EAE8-806BBFE1C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698460" cy="4525963"/>
          </a:xfrm>
        </p:spPr>
        <p:txBody>
          <a:bodyPr>
            <a:normAutofit/>
          </a:bodyPr>
          <a:lstStyle/>
          <a:p>
            <a:r>
              <a:rPr lang="ru-RU" sz="2100" dirty="0">
                <a:latin typeface="Aptos" panose="020B0004020202020204" pitchFamily="34" charset="0"/>
              </a:rPr>
              <a:t>На этапе проектирования в </a:t>
            </a:r>
            <a:r>
              <a:rPr lang="ru-RU" sz="2100" dirty="0" err="1">
                <a:latin typeface="Aptos" panose="020B0004020202020204" pitchFamily="34" charset="0"/>
              </a:rPr>
              <a:t>Blender</a:t>
            </a:r>
            <a:r>
              <a:rPr lang="ru-RU" sz="2100" dirty="0">
                <a:latin typeface="Aptos" panose="020B0004020202020204" pitchFamily="34" charset="0"/>
              </a:rPr>
              <a:t> робот создается не целиком, а моделируется отдельными независимыми компонентами</a:t>
            </a:r>
            <a:r>
              <a:rPr lang="en-US" sz="2100" dirty="0">
                <a:latin typeface="Aptos" panose="020B0004020202020204" pitchFamily="34" charset="0"/>
              </a:rPr>
              <a:t> –</a:t>
            </a:r>
            <a:r>
              <a:rPr lang="ru-RU" sz="2100" dirty="0">
                <a:latin typeface="Aptos" panose="020B0004020202020204" pitchFamily="34" charset="0"/>
              </a:rPr>
              <a:t> корпусом, колесами и датчиками. </a:t>
            </a:r>
          </a:p>
          <a:p>
            <a:r>
              <a:rPr lang="ru-RU" sz="2100" dirty="0">
                <a:latin typeface="Aptos" panose="020B0004020202020204" pitchFamily="34" charset="0"/>
              </a:rPr>
              <a:t>Это необходимо для того, чтобы в дальнейшем правильно описать физические связи, массу и подвижность каждой детали в конфигурационном файле URDF симулятора, настраиваемой в среде </a:t>
            </a:r>
            <a:r>
              <a:rPr lang="en-US" sz="2100" dirty="0">
                <a:latin typeface="Aptos" panose="020B0004020202020204" pitchFamily="34" charset="0"/>
              </a:rPr>
              <a:t>Ubuntu</a:t>
            </a:r>
            <a:r>
              <a:rPr lang="ru-RU" sz="2100" dirty="0"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890DFB-EFC3-BE2E-45D9-634D5D020972}"/>
              </a:ext>
            </a:extLst>
          </p:cNvPr>
          <p:cNvSpPr txBox="1"/>
          <p:nvPr/>
        </p:nvSpPr>
        <p:spPr>
          <a:xfrm>
            <a:off x="5409943" y="4280549"/>
            <a:ext cx="6098582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Рисунок 3 – Модель робота в </a:t>
            </a:r>
            <a:r>
              <a:rPr lang="en-US" sz="1400" i="0" u="none" strike="noStrike" cap="none" dirty="0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blender</a:t>
            </a:r>
            <a:endParaRPr lang="ru-RU" sz="900" i="1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91CD9911-2C37-9BA8-6FBB-9BF230B76BCD}"/>
              </a:ext>
            </a:extLst>
          </p:cNvPr>
          <p:cNvGrpSpPr/>
          <p:nvPr/>
        </p:nvGrpSpPr>
        <p:grpSpPr>
          <a:xfrm>
            <a:off x="5721710" y="1729511"/>
            <a:ext cx="5475048" cy="2487538"/>
            <a:chOff x="5554880" y="1196898"/>
            <a:chExt cx="5475048" cy="2487538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39A50A12-20DC-0327-38E9-B86FDA32D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137" r="39435"/>
            <a:stretch>
              <a:fillRect/>
            </a:stretch>
          </p:blipFill>
          <p:spPr>
            <a:xfrm>
              <a:off x="5554880" y="1196898"/>
              <a:ext cx="3310551" cy="2487538"/>
            </a:xfrm>
            <a:prstGeom prst="rect">
              <a:avLst/>
            </a:prstGeom>
          </p:spPr>
        </p:pic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F0925416-D14A-9F72-D5B6-40EB5920F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6469"/>
            <a:stretch>
              <a:fillRect/>
            </a:stretch>
          </p:blipFill>
          <p:spPr>
            <a:xfrm>
              <a:off x="8865431" y="1196898"/>
              <a:ext cx="2164497" cy="2487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4855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FD8A74-F801-2CD8-1EA3-182E373B6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8809" y="-475785"/>
            <a:ext cx="13470672" cy="774637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AC22B5-4D49-B848-E66E-040C1A447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31788"/>
            <a:ext cx="573405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Aptos Display" panose="020B0004020202020204" pitchFamily="34" charset="0"/>
              </a:rPr>
              <a:t>Создание модели робота в </a:t>
            </a:r>
            <a:r>
              <a:rPr lang="en-US" sz="2800" b="1" dirty="0">
                <a:latin typeface="Aptos Display" panose="020B0004020202020204" pitchFamily="34" charset="0"/>
              </a:rPr>
              <a:t>Gazebo</a:t>
            </a:r>
            <a:endParaRPr lang="ru-RU" sz="2800" b="1" dirty="0">
              <a:latin typeface="Aptos Display" panose="020B0004020202020204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C959E8C-CAF9-9293-EF0A-D5EDCBFEF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76300" y="1598493"/>
            <a:ext cx="6292850" cy="3744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Для экспорта разработанных деталей робота в среду Gazebo был создан URDF-файл, представляющий собой XML-документ с описанием структуры робота.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В данном файле задаются геометрические параметры элементов конструкции, масса, моменты инерции, параметры коллизий и взаимное расположение звеньев. </a:t>
            </a:r>
            <a:b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endParaRPr kumimoji="0" lang="ru-RU" altLang="ru-RU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Использование URDF необходимо для того, чтобы среда Gazebo могла корректно построить виртуальную модель робота, отобразить её внешний вид и обеспечить реалистичное моделирование физических процессов при движении.</a:t>
            </a:r>
          </a:p>
          <a:p>
            <a:endParaRPr lang="ru-RU" sz="18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09509B-CE40-9CC6-B775-EEDC7DBBDE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6"/>
          <a:stretch>
            <a:fillRect/>
          </a:stretch>
        </p:blipFill>
        <p:spPr>
          <a:xfrm>
            <a:off x="7169150" y="728647"/>
            <a:ext cx="3848200" cy="48784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FEA329-1354-CF68-031C-08A286367B84}"/>
              </a:ext>
            </a:extLst>
          </p:cNvPr>
          <p:cNvSpPr txBox="1"/>
          <p:nvPr/>
        </p:nvSpPr>
        <p:spPr>
          <a:xfrm>
            <a:off x="7169150" y="5591635"/>
            <a:ext cx="3848200" cy="707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Рисунок 4 – </a:t>
            </a:r>
            <a:r>
              <a:rPr lang="ru-RU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Фрагмент 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URDF</a:t>
            </a:r>
            <a:r>
              <a:rPr lang="ru-RU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-файла с описанием робота</a:t>
            </a:r>
            <a:endParaRPr lang="ru-RU" sz="900" i="1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298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0E31A-B8F2-1F87-AC5F-C4FCC5D94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6C8885-107B-F718-DBB8-6B3A9ED7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8809" y="-475785"/>
            <a:ext cx="13470672" cy="774637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4C0FB-4969-3A60-52B4-B02D0D44C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31788"/>
            <a:ext cx="573405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Aptos Display" panose="020B0004020202020204" pitchFamily="34" charset="0"/>
              </a:rPr>
              <a:t>Создание модели робота в </a:t>
            </a:r>
            <a:r>
              <a:rPr lang="en-US" sz="2800" b="1" dirty="0">
                <a:latin typeface="Aptos Display" panose="020B0004020202020204" pitchFamily="34" charset="0"/>
              </a:rPr>
              <a:t>Gazebo</a:t>
            </a:r>
            <a:endParaRPr lang="ru-RU" sz="2800" b="1" dirty="0">
              <a:latin typeface="Aptos Display" panose="020B0004020202020204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78BC9FC-61DB-ACDD-8339-3F76DCBDE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6827" y="1256522"/>
            <a:ext cx="5219700" cy="4801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ru-RU" sz="1800" b="1" dirty="0"/>
              <a:t>Создание и запуск </a:t>
            </a:r>
            <a:r>
              <a:rPr lang="ru-RU" sz="1800" b="1" dirty="0" err="1"/>
              <a:t>launch</a:t>
            </a:r>
            <a:r>
              <a:rPr lang="ru-RU" sz="1800" b="1" dirty="0"/>
              <a:t>-файла.</a:t>
            </a:r>
            <a:r>
              <a:rPr lang="ru-RU" sz="1800" dirty="0"/>
              <a:t> Launch-файл используется для автоматического запуска среды Gazebo, необходимых узлов ROS и загрузки параметров модели робота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ru-RU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Загрузка модели робота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. Описание робота из URDF-файла передаётся в параметр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robot_description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, после чего утилита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spawn_model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создаёт экземпляр модели в виртуальной среде и задаёт её начальное положение.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Инициализация физической модели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. После загрузки Gazebo формирует трёхмерную модель робота, учитывает массу, моменты инерции, параметры коллизий и воздействие силы тяжести, что позволяет выполнять реалистичное моделирование движения.</a:t>
            </a:r>
            <a:endParaRPr lang="ru-RU" sz="18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29C9CB-0093-BB8A-6A34-3DA1D09403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" t="2317" r="-1"/>
          <a:stretch>
            <a:fillRect/>
          </a:stretch>
        </p:blipFill>
        <p:spPr>
          <a:xfrm>
            <a:off x="6096000" y="1397620"/>
            <a:ext cx="5484112" cy="2912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3071C6-AAA2-81E5-4820-9870F0A1F482}"/>
              </a:ext>
            </a:extLst>
          </p:cNvPr>
          <p:cNvSpPr txBox="1"/>
          <p:nvPr/>
        </p:nvSpPr>
        <p:spPr>
          <a:xfrm>
            <a:off x="6913956" y="4506250"/>
            <a:ext cx="3848200" cy="707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Рисунок </a:t>
            </a:r>
            <a:r>
              <a:rPr lang="ru-RU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5</a:t>
            </a:r>
            <a:r>
              <a:rPr lang="ru-RU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– </a:t>
            </a:r>
            <a:r>
              <a:rPr lang="ru-RU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Фрагмент 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launch</a:t>
            </a:r>
            <a:r>
              <a:rPr lang="ru-RU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-файла для загрузки робота в среду 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Gazebo</a:t>
            </a:r>
            <a:endParaRPr lang="ru-RU" sz="900" i="1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711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4E7C331-8C3D-D1CA-C038-C87C8744F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8809" y="-475785"/>
            <a:ext cx="13470672" cy="7746379"/>
          </a:xfrm>
          <a:prstGeom prst="rect">
            <a:avLst/>
          </a:prstGeom>
        </p:spPr>
      </p:pic>
      <p:sp>
        <p:nvSpPr>
          <p:cNvPr id="145" name="Google Shape;145;p16"/>
          <p:cNvSpPr txBox="1"/>
          <p:nvPr/>
        </p:nvSpPr>
        <p:spPr>
          <a:xfrm>
            <a:off x="771525" y="923925"/>
            <a:ext cx="11181397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Разработка</a:t>
            </a:r>
            <a:r>
              <a:rPr lang="en-US" sz="2800" b="1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3D-модели в Gazebo </a:t>
            </a:r>
            <a:endParaRPr sz="28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018E91-4085-C025-F4A7-96E378D60B16}"/>
              </a:ext>
            </a:extLst>
          </p:cNvPr>
          <p:cNvSpPr txBox="1"/>
          <p:nvPr/>
        </p:nvSpPr>
        <p:spPr>
          <a:xfrm>
            <a:off x="5889316" y="5669478"/>
            <a:ext cx="6098582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Рисунок 6 – </a:t>
            </a:r>
            <a:r>
              <a:rPr lang="ru-RU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рабочее пространство 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Gazebo</a:t>
            </a:r>
            <a:endParaRPr lang="ru-RU" sz="900" i="1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AF90CA-C1A2-4114-2B79-73CE28B86422}"/>
              </a:ext>
            </a:extLst>
          </p:cNvPr>
          <p:cNvSpPr txBox="1"/>
          <p:nvPr/>
        </p:nvSpPr>
        <p:spPr>
          <a:xfrm>
            <a:off x="771525" y="1951280"/>
            <a:ext cx="47727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sz="1800" dirty="0" err="1">
                <a:solidFill>
                  <a:schemeClr val="tx1"/>
                </a:solidFill>
                <a:latin typeface="Aptos" panose="020B0004020202020204" pitchFamily="34" charset="0"/>
              </a:rPr>
              <a:t>Gazebo</a:t>
            </a:r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 выполняет роль виртуальной реальности. Он имитирует физические законы: гравитацию, трение колес о поверхность, столкновения с препятствиями и работу датчиков (</a:t>
            </a:r>
            <a:r>
              <a:rPr lang="ru-RU" sz="1800" dirty="0" err="1">
                <a:solidFill>
                  <a:schemeClr val="tx1"/>
                </a:solidFill>
                <a:latin typeface="Aptos" panose="020B0004020202020204" pitchFamily="34" charset="0"/>
              </a:rPr>
              <a:t>Лидара</a:t>
            </a:r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).</a:t>
            </a:r>
            <a:endParaRPr lang="en-US" sz="1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buFont typeface="+mj-lt"/>
              <a:buAutoNum type="arabicPeriod"/>
            </a:pPr>
            <a:endParaRPr lang="ru-RU" sz="1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ROS выступает в качестве системы управления. Внутри ROS запускаются алгоритмы (</a:t>
            </a:r>
            <a:r>
              <a:rPr lang="ru-RU" sz="1800" dirty="0" err="1">
                <a:solidFill>
                  <a:schemeClr val="tx1"/>
                </a:solidFill>
                <a:latin typeface="Aptos" panose="020B0004020202020204" pitchFamily="34" charset="0"/>
              </a:rPr>
              <a:t>ноды</a:t>
            </a:r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), которые рассчитывают математическую модель движения, отправляют команды на моторы и обрабатывают данные со сканера.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C50D8F-19D8-6198-4B01-8C955FC22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705" y="1656287"/>
            <a:ext cx="5842464" cy="38071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F33598-AD85-5E24-68CD-B3D35923B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8809" y="-475785"/>
            <a:ext cx="13470672" cy="7746379"/>
          </a:xfrm>
          <a:prstGeom prst="rect">
            <a:avLst/>
          </a:prstGeom>
        </p:spPr>
      </p:pic>
      <p:sp>
        <p:nvSpPr>
          <p:cNvPr id="159" name="Google Shape;159;p17"/>
          <p:cNvSpPr txBox="1"/>
          <p:nvPr/>
        </p:nvSpPr>
        <p:spPr>
          <a:xfrm>
            <a:off x="771525" y="923925"/>
            <a:ext cx="11181397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Виртуальное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окружение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симулятора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8B4294-B5F2-73D3-E62F-CE8722799825}"/>
              </a:ext>
            </a:extLst>
          </p:cNvPr>
          <p:cNvSpPr txBox="1"/>
          <p:nvPr/>
        </p:nvSpPr>
        <p:spPr>
          <a:xfrm>
            <a:off x="672708" y="5437662"/>
            <a:ext cx="6098058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Рисунок </a:t>
            </a:r>
            <a:r>
              <a:rPr lang="ru-RU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7</a:t>
            </a:r>
            <a:r>
              <a:rPr lang="ru-RU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– Рабочее пространство </a:t>
            </a:r>
            <a:r>
              <a:rPr lang="en-US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Gazebo</a:t>
            </a:r>
            <a:endParaRPr lang="ru-RU" sz="900" i="1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CCBE8-9063-1F9B-21E1-90DC2F9E2E85}"/>
              </a:ext>
            </a:extLst>
          </p:cNvPr>
          <p:cNvSpPr txBox="1"/>
          <p:nvPr/>
        </p:nvSpPr>
        <p:spPr>
          <a:xfrm>
            <a:off x="7520902" y="1450223"/>
            <a:ext cx="367253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Среда Gazebo использовалась для моделирования движения мобильного робота и проверки работоспособности разработанных алгоритмов управления.</a:t>
            </a:r>
          </a:p>
          <a:p>
            <a:r>
              <a:rPr lang="ru-RU" sz="1600" dirty="0"/>
              <a:t>В виртуальном пространстве обеспечивается визуализация модели робота, работа датчиков и расчёт физических взаимодействий с окружающей средой.</a:t>
            </a:r>
          </a:p>
          <a:p>
            <a:r>
              <a:rPr lang="ru-RU" sz="1600" dirty="0"/>
              <a:t>Визуализация: Связаны </a:t>
            </a:r>
            <a:r>
              <a:rPr lang="ru-RU" sz="1600" dirty="0" err="1"/>
              <a:t>высокодетализированные</a:t>
            </a:r>
            <a:r>
              <a:rPr lang="ru-RU" sz="1600" dirty="0"/>
              <a:t> внешние сетки, экспортированные из </a:t>
            </a:r>
            <a:r>
              <a:rPr lang="ru-RU" sz="1600" dirty="0" err="1"/>
              <a:t>Blender</a:t>
            </a:r>
            <a:r>
              <a:rPr lang="ru-RU" sz="1600" dirty="0"/>
              <a:t>.</a:t>
            </a:r>
          </a:p>
          <a:p>
            <a:endParaRPr lang="ru-RU" sz="1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B841A96-BB50-C661-57C1-1B0649085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564451"/>
            <a:ext cx="5727495" cy="372909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16CCF4D-C14F-B3EB-E5E4-B08E88951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1509132"/>
            <a:ext cx="5727495" cy="37907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0">
          <a:extLst>
            <a:ext uri="{FF2B5EF4-FFF2-40B4-BE49-F238E27FC236}">
              <a16:creationId xmlns:a16="http://schemas.microsoft.com/office/drawing/2014/main" id="{C6834691-1C63-0B13-DBF1-CA79ABFE2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7A2DD3-299E-6EEF-C5F6-22335874BE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98809" y="-475785"/>
            <a:ext cx="13470672" cy="7746379"/>
          </a:xfrm>
          <a:prstGeom prst="rect">
            <a:avLst/>
          </a:prstGeom>
        </p:spPr>
      </p:pic>
      <p:pic>
        <p:nvPicPr>
          <p:cNvPr id="2" name="Движение робота + запоминание маршурута, откуда пришел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53AD1B4B-8744-6948-9F0C-18188669D0F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44677" y="1115199"/>
            <a:ext cx="7502645" cy="462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76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89287EC-FD0E-15C7-0C1F-8BDC4C3B4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8809" y="-475785"/>
            <a:ext cx="13470672" cy="7746379"/>
          </a:xfrm>
          <a:prstGeom prst="rect">
            <a:avLst/>
          </a:prstGeom>
        </p:spPr>
      </p:pic>
      <p:sp>
        <p:nvSpPr>
          <p:cNvPr id="168" name="Google Shape;168;p18"/>
          <p:cNvSpPr txBox="1"/>
          <p:nvPr/>
        </p:nvSpPr>
        <p:spPr>
          <a:xfrm>
            <a:off x="312234" y="2601850"/>
            <a:ext cx="11448586" cy="165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tx1"/>
                </a:solidFill>
                <a:latin typeface="Aptos Display" panose="020B0004020202020204" pitchFamily="34" charset="0"/>
                <a:sym typeface="Montserrat"/>
              </a:rPr>
              <a:t>Спасибо за внимание</a:t>
            </a:r>
            <a:br>
              <a:rPr lang="ru-RU" sz="3600" b="1" dirty="0">
                <a:solidFill>
                  <a:schemeClr val="tx1"/>
                </a:solidFill>
                <a:latin typeface="Aptos Display" panose="020B0004020202020204" pitchFamily="34" charset="0"/>
                <a:sym typeface="Montserrat"/>
              </a:rPr>
            </a:br>
            <a:br>
              <a:rPr lang="ru-RU" sz="3600" b="1" dirty="0">
                <a:solidFill>
                  <a:schemeClr val="tx1"/>
                </a:solidFill>
                <a:latin typeface="Aptos Display" panose="020B0004020202020204" pitchFamily="34" charset="0"/>
                <a:sym typeface="Montserrat"/>
              </a:rPr>
            </a:br>
            <a:endParaRPr b="1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486</Words>
  <Application>Microsoft Office PowerPoint</Application>
  <PresentationFormat>Широкоэкранный</PresentationFormat>
  <Paragraphs>42</Paragraphs>
  <Slides>10</Slides>
  <Notes>7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Calibri</vt:lpstr>
      <vt:lpstr>Cambria Math</vt:lpstr>
      <vt:lpstr>Arial</vt:lpstr>
      <vt:lpstr>Aptos Display</vt:lpstr>
      <vt:lpstr>Office Theme</vt:lpstr>
      <vt:lpstr>Презентация PowerPoint</vt:lpstr>
      <vt:lpstr>Презентация PowerPoint</vt:lpstr>
      <vt:lpstr>Презентация PowerPoint</vt:lpstr>
      <vt:lpstr>Разработка 3D-модели в blender</vt:lpstr>
      <vt:lpstr>Создание модели робота в Gazebo</vt:lpstr>
      <vt:lpstr>Создание модели робота в Gazebo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Sergey Derzhanskiy</dc:creator>
  <cp:lastModifiedBy>Sergey Derzhanskiy</cp:lastModifiedBy>
  <cp:revision>6</cp:revision>
  <dcterms:modified xsi:type="dcterms:W3CDTF">2026-06-01T17:54:08Z</dcterms:modified>
</cp:coreProperties>
</file>