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</p:sldIdLst>
  <p:sldSz cx="12192000" cy="6858000"/>
  <p:notesSz cx="6858000" cy="9144000"/>
  <p:embeddedFontLst>
    <p:embeddedFont>
      <p:font typeface="Cambria Math" panose="02040503050406030204" pitchFamily="18" charset="0"/>
      <p:regular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252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1345406" y="1838325"/>
            <a:ext cx="950118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Моделирование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мобильного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робота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 с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дифференциальным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приводом</a:t>
            </a:r>
            <a:endParaRPr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209800" y="5219700"/>
            <a:ext cx="4038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Студент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4 </a:t>
            </a:r>
            <a:r>
              <a:rPr lang="en-US" sz="16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курса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: </a:t>
            </a:r>
            <a:r>
              <a:rPr lang="en-US" sz="16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Держанский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С. А. (</a:t>
            </a:r>
            <a:r>
              <a:rPr lang="en-US" sz="16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группа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02422-ДБ)</a:t>
            </a:r>
            <a:endParaRPr sz="20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629400" y="5219700"/>
            <a:ext cx="3352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Руководитель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: 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доцент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Вшивков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Ю. Ф. (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к.т.н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.)</a:t>
            </a:r>
            <a:endParaRPr sz="2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/>
        </p:nvSpPr>
        <p:spPr>
          <a:xfrm>
            <a:off x="771525" y="2066800"/>
            <a:ext cx="444817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Изучить кинематику дифференциального робота и разработать его математическую модель.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Разработать 3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D</a:t>
            </a: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-модель робота с дифференциальным приводом в 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Blender</a:t>
            </a: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Создать модель робота с дифференциальным приводом в среде 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Gazebo</a:t>
            </a:r>
            <a:r>
              <a:rPr lang="ru-RU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Цели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и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задачи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практики</a:t>
            </a:r>
            <a:endParaRPr b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Математическая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модель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движения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0D0DD9-E2CB-2818-3731-372F4DA60BFF}"/>
                  </a:ext>
                </a:extLst>
              </p:cNvPr>
              <p:cNvSpPr txBox="1"/>
              <p:nvPr/>
            </p:nvSpPr>
            <p:spPr>
              <a:xfrm>
                <a:off x="771525" y="1996289"/>
                <a:ext cx="2406112" cy="1244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mtClean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m:t>Поза робота задается тройкой</m:t>
                      </m:r>
                    </m:oMath>
                  </m:oMathPara>
                </a14:m>
                <a:endParaRPr lang="ru-RU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ru-RU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  <m:r>
                                  <a:rPr lang="ru-RU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0D0DD9-E2CB-2818-3731-372F4DA60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5" y="1996289"/>
                <a:ext cx="2406112" cy="12441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6158A5-5148-9C75-A2C4-B32FF1420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9" y="2141932"/>
            <a:ext cx="3804188" cy="29126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934D46-19DD-E47B-0805-A0AF78DEC4CA}"/>
              </a:ext>
            </a:extLst>
          </p:cNvPr>
          <p:cNvSpPr txBox="1"/>
          <p:nvPr/>
        </p:nvSpPr>
        <p:spPr>
          <a:xfrm>
            <a:off x="3919870" y="5398318"/>
            <a:ext cx="6098582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Рисунок 1 – Движение робота по дуге</a:t>
            </a:r>
            <a:endParaRPr lang="ru-RU" sz="900" i="1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BAF704-BBA6-CDBC-152C-689110B96228}"/>
                  </a:ext>
                </a:extLst>
              </p:cNvPr>
              <p:cNvSpPr txBox="1"/>
              <p:nvPr/>
            </p:nvSpPr>
            <p:spPr>
              <a:xfrm>
                <a:off x="386005" y="3598253"/>
                <a:ext cx="3177152" cy="668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           Матрица поворота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ru-RU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ru-RU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ru-RU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ru-RU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ru-RU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BAF704-BBA6-CDBC-152C-689110B96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05" y="3598253"/>
                <a:ext cx="3177152" cy="668966"/>
              </a:xfrm>
              <a:prstGeom prst="rect">
                <a:avLst/>
              </a:prstGeom>
              <a:blipFill>
                <a:blip r:embed="rId5"/>
                <a:stretch>
                  <a:fillRect t="-909" b="-1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673CC-9D66-FEAE-BFC0-467D72635C38}"/>
                  </a:ext>
                </a:extLst>
              </p:cNvPr>
              <p:cNvSpPr txBox="1"/>
              <p:nvPr/>
            </p:nvSpPr>
            <p:spPr>
              <a:xfrm>
                <a:off x="481914" y="4862530"/>
                <a:ext cx="3325511" cy="9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       Расчет скорости каждого колеса</a:t>
                </a:r>
              </a:p>
              <a:p>
                <a:endParaRPr lang="ru-RU" i="1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𝑠𝑡𝑒𝑝</m:t>
                          </m:r>
                        </m:num>
                        <m:den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𝑠𝑡𝑒𝑝</m:t>
                          </m:r>
                        </m:num>
                        <m:den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ru-RU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673CC-9D66-FEAE-BFC0-467D72635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4" y="4862530"/>
                <a:ext cx="3325511" cy="912366"/>
              </a:xfrm>
              <a:prstGeom prst="rect">
                <a:avLst/>
              </a:prstGeom>
              <a:blipFill>
                <a:blip r:embed="rId6"/>
                <a:stretch>
                  <a:fillRect t="-1342" b="-6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C4AD0EC5-9C3F-0233-C239-2E09B59D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3</a:t>
            </a:r>
            <a:r>
              <a:rPr lang="en-US" dirty="0"/>
              <a:t>D-</a:t>
            </a:r>
            <a:r>
              <a:rPr lang="ru-RU" dirty="0"/>
              <a:t>модели в </a:t>
            </a:r>
            <a:r>
              <a:rPr lang="en-US" dirty="0"/>
              <a:t>blender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6DD98E5-B297-A126-EAE8-806BBFE1C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698460" cy="4525963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latin typeface="Aptos" panose="020B0004020202020204" pitchFamily="34" charset="0"/>
              </a:rPr>
              <a:t>На этапе проектирования в </a:t>
            </a:r>
            <a:r>
              <a:rPr lang="ru-RU" dirty="0" err="1">
                <a:latin typeface="Aptos" panose="020B0004020202020204" pitchFamily="34" charset="0"/>
              </a:rPr>
              <a:t>Blender</a:t>
            </a:r>
            <a:r>
              <a:rPr lang="ru-RU" dirty="0">
                <a:latin typeface="Aptos" panose="020B0004020202020204" pitchFamily="34" charset="0"/>
              </a:rPr>
              <a:t> робот создается не целиком, а моделируется отдельными независимыми компонентами</a:t>
            </a:r>
            <a:r>
              <a:rPr lang="en-US" dirty="0">
                <a:latin typeface="Aptos" panose="020B0004020202020204" pitchFamily="34" charset="0"/>
              </a:rPr>
              <a:t> –</a:t>
            </a:r>
            <a:r>
              <a:rPr lang="ru-RU" dirty="0">
                <a:latin typeface="Aptos" panose="020B0004020202020204" pitchFamily="34" charset="0"/>
              </a:rPr>
              <a:t> корпусом, колесами и датчиками. </a:t>
            </a:r>
          </a:p>
          <a:p>
            <a:r>
              <a:rPr lang="ru-RU" dirty="0">
                <a:latin typeface="Aptos" panose="020B0004020202020204" pitchFamily="34" charset="0"/>
              </a:rPr>
              <a:t>Это необходимо для того, чтобы в дальнейшем правильно описать физические связи, массу и подвижность каждой детали в конфигурационном файле URDF симулятора.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A50A12-20DC-0327-38E9-B86FDA32D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552" y="1707971"/>
            <a:ext cx="5453766" cy="28382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890DFB-EFC3-BE2E-45D9-634D5D020972}"/>
              </a:ext>
            </a:extLst>
          </p:cNvPr>
          <p:cNvSpPr txBox="1"/>
          <p:nvPr/>
        </p:nvSpPr>
        <p:spPr>
          <a:xfrm>
            <a:off x="5281394" y="4546269"/>
            <a:ext cx="6098582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Рисунок 3 – Модель робота в </a:t>
            </a:r>
            <a:r>
              <a:rPr lang="en-US" sz="1400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blender</a:t>
            </a:r>
            <a:endParaRPr lang="ru-RU" sz="900" i="1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85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C22B5-4D49-B848-E66E-040C1A44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31788"/>
            <a:ext cx="573405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Aptos Display" panose="020B0004020202020204" pitchFamily="34" charset="0"/>
              </a:rPr>
              <a:t>Создание модели робота в </a:t>
            </a:r>
            <a:r>
              <a:rPr lang="en-US" sz="2800" b="1" dirty="0">
                <a:latin typeface="Aptos Display" panose="020B0004020202020204" pitchFamily="34" charset="0"/>
              </a:rPr>
              <a:t>Gazebo</a:t>
            </a:r>
            <a:endParaRPr lang="ru-RU" sz="2800" b="1" dirty="0">
              <a:latin typeface="Aptos Display" panose="020B000402020202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C959E8C-CAF9-9293-EF0A-D5EDCBFEF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6300" y="1598493"/>
            <a:ext cx="6343650" cy="4021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Чтение URDF/SDF: ROS и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Gazebo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считывают XML-файл с параметрами робота: структурой, весом и ссылками на 3D-сетки</a:t>
            </a:r>
            <a:r>
              <a:rPr lang="en-US" alt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  <a:r>
              <a:rPr lang="en-US" altLang="ru-RU" sz="1800" dirty="0" err="1">
                <a:solidFill>
                  <a:schemeClr val="tx1"/>
                </a:solidFill>
                <a:latin typeface="Aptos" panose="020B0004020202020204" pitchFamily="34" charset="0"/>
              </a:rPr>
              <a:t>stl</a:t>
            </a:r>
            <a:r>
              <a:rPr lang="en-US" alt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 .blender.</a:t>
            </a:r>
            <a:endParaRPr kumimoji="0" lang="ru-RU" altLang="ru-RU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Запуск Launch-файла: Скрипт автоматизации одной командой открывает симулятор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Gazebo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и запускает сервер параметров 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Вызов утилиты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spawn_model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 Специальная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нода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передает текстовое описание робота в симулятор и задает начальные координаты $(X=0, Y=0, Z=0)$.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Инициализация физики: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Gazebo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мгновенно собирает модель, включает гравитацию, просчитывает физику контактов колес с поверхностью и «материализует» робота в мире.</a:t>
            </a:r>
          </a:p>
          <a:p>
            <a:endParaRPr lang="ru-RU" sz="18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298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Разработка</a:t>
            </a:r>
            <a:r>
              <a:rPr lang="en-US" sz="280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3D-модели в Gazebo </a:t>
            </a:r>
            <a:endParaRPr sz="28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pic>
        <p:nvPicPr>
          <p:cNvPr id="3" name="Рисунок 2" descr="Изображение выглядит как снимок экрана, Мультимедийное программное обеспечение, программное обеспечение, Графическое программное обеспечение">
            <a:extLst>
              <a:ext uri="{FF2B5EF4-FFF2-40B4-BE49-F238E27FC236}">
                <a16:creationId xmlns:a16="http://schemas.microsoft.com/office/drawing/2014/main" id="{7A455F6C-0E6B-D84A-E4FA-907A65A987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18" t="13957" r="14825" b="34019"/>
          <a:stretch/>
        </p:blipFill>
        <p:spPr>
          <a:xfrm>
            <a:off x="6362223" y="1951280"/>
            <a:ext cx="5152769" cy="3546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018E91-4085-C025-F4A7-96E378D60B16}"/>
              </a:ext>
            </a:extLst>
          </p:cNvPr>
          <p:cNvSpPr txBox="1"/>
          <p:nvPr/>
        </p:nvSpPr>
        <p:spPr>
          <a:xfrm>
            <a:off x="5889316" y="5862766"/>
            <a:ext cx="6098582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Рисунок </a:t>
            </a:r>
            <a:r>
              <a:rPr lang="ru-RU" dirty="0">
                <a:solidFill>
                  <a:schemeClr val="tx1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2</a:t>
            </a: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– Модель робота в </a:t>
            </a:r>
            <a:r>
              <a:rPr lang="en-US" sz="1400" i="0" u="none" strike="noStrike" cap="none" dirty="0">
                <a:solidFill>
                  <a:schemeClr val="tx1"/>
                </a:solidFill>
                <a:latin typeface="Aptos" panose="020B0004020202020204" pitchFamily="34" charset="0"/>
                <a:ea typeface="Montserrat"/>
                <a:cs typeface="Montserrat"/>
                <a:sym typeface="Montserrat"/>
              </a:rPr>
              <a:t>Gazebo</a:t>
            </a:r>
            <a:endParaRPr lang="ru-RU" sz="900" i="1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F90CA-C1A2-4114-2B79-73CE28B86422}"/>
              </a:ext>
            </a:extLst>
          </p:cNvPr>
          <p:cNvSpPr txBox="1"/>
          <p:nvPr/>
        </p:nvSpPr>
        <p:spPr>
          <a:xfrm>
            <a:off x="771525" y="1951280"/>
            <a:ext cx="47727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sz="1800" dirty="0" err="1">
                <a:solidFill>
                  <a:schemeClr val="tx1"/>
                </a:solidFill>
                <a:latin typeface="Aptos" panose="020B0004020202020204" pitchFamily="34" charset="0"/>
              </a:rPr>
              <a:t>Gazebo</a:t>
            </a:r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 выполняет роль виртуальной реальности. Он имитирует физические законы: гравитацию, трение колес о поверхность, столкновения с препятствиями и работу датчиков (</a:t>
            </a:r>
            <a:r>
              <a:rPr lang="ru-RU" sz="1800" dirty="0" err="1">
                <a:solidFill>
                  <a:schemeClr val="tx1"/>
                </a:solidFill>
                <a:latin typeface="Aptos" panose="020B0004020202020204" pitchFamily="34" charset="0"/>
              </a:rPr>
              <a:t>Лидара</a:t>
            </a:r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).</a:t>
            </a:r>
            <a:endParaRPr lang="en-US" sz="1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buFont typeface="+mj-lt"/>
              <a:buAutoNum type="arabicPeriod"/>
            </a:pPr>
            <a:endParaRPr lang="ru-RU" sz="1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ROS выступает в качестве системы управления. Внутри ROS запускаются алгоритмы (</a:t>
            </a:r>
            <a:r>
              <a:rPr lang="ru-RU" sz="1800" dirty="0" err="1">
                <a:solidFill>
                  <a:schemeClr val="tx1"/>
                </a:solidFill>
                <a:latin typeface="Aptos" panose="020B0004020202020204" pitchFamily="34" charset="0"/>
              </a:rPr>
              <a:t>ноды</a:t>
            </a:r>
            <a:r>
              <a:rPr lang="ru-RU" sz="1800" dirty="0">
                <a:solidFill>
                  <a:schemeClr val="tx1"/>
                </a:solidFill>
                <a:latin typeface="Aptos" panose="020B0004020202020204" pitchFamily="34" charset="0"/>
              </a:rPr>
              <a:t>), которые рассчитывают математическую модель движения, отправляют команды на моторы и обрабатывают данные со сканера.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Виртуальное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окружение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Aptos Display" panose="020B0004020202020204" pitchFamily="34" charset="0"/>
                <a:ea typeface="Montserrat"/>
                <a:cs typeface="Montserrat"/>
                <a:sym typeface="Montserrat"/>
              </a:rPr>
              <a:t>симулятора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580EE4F-4A86-196B-AAA5-CC39F19BD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14" y="1807210"/>
            <a:ext cx="6333791" cy="39575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8B4294-B5F2-73D3-E62F-CE8722799825}"/>
              </a:ext>
            </a:extLst>
          </p:cNvPr>
          <p:cNvSpPr txBox="1"/>
          <p:nvPr/>
        </p:nvSpPr>
        <p:spPr>
          <a:xfrm>
            <a:off x="930580" y="6121751"/>
            <a:ext cx="6098058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Рисунок </a:t>
            </a:r>
            <a:r>
              <a:rPr lang="en-US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4</a:t>
            </a:r>
            <a:r>
              <a:rPr lang="ru-RU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– Рабочее пространство </a:t>
            </a:r>
            <a:r>
              <a:rPr lang="en-US" sz="1400" i="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Gazebo</a:t>
            </a:r>
            <a:endParaRPr lang="ru-RU" sz="900" i="1" dirty="0">
              <a:solidFill>
                <a:schemeClr val="tx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CCBE8-9063-1F9B-21E1-90DC2F9E2E85}"/>
              </a:ext>
            </a:extLst>
          </p:cNvPr>
          <p:cNvSpPr txBox="1"/>
          <p:nvPr/>
        </p:nvSpPr>
        <p:spPr>
          <a:xfrm>
            <a:off x="7706755" y="1766456"/>
            <a:ext cx="367253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Иерархическая структура: Робот описан через систему твердых тел  и соединяющих их шарниров. </a:t>
            </a:r>
            <a:r>
              <a:rPr lang="ru-RU" sz="1600" dirty="0" err="1"/>
              <a:t>Base_link</a:t>
            </a:r>
            <a:r>
              <a:rPr lang="ru-RU" sz="1600" dirty="0"/>
              <a:t>  является корневым элементом.</a:t>
            </a:r>
          </a:p>
          <a:p>
            <a:endParaRPr lang="ru-RU" sz="1600" dirty="0"/>
          </a:p>
          <a:p>
            <a:r>
              <a:rPr lang="ru-RU" sz="1600" dirty="0"/>
              <a:t>Физические свойства: Для каждого компонента заданы масса (задается в файле </a:t>
            </a:r>
            <a:r>
              <a:rPr lang="en-US" sz="1600" dirty="0" err="1"/>
              <a:t>urdf</a:t>
            </a:r>
            <a:r>
              <a:rPr lang="ru-RU" sz="1600" dirty="0"/>
              <a:t>, так же, как и </a:t>
            </a:r>
            <a:r>
              <a:rPr lang="ru-RU" sz="1600" dirty="0" err="1"/>
              <a:t>инцерция</a:t>
            </a:r>
            <a:r>
              <a:rPr lang="ru-RU" sz="1600" dirty="0"/>
              <a:t>, тензор инерции и геометрия столкновений на основе упрощенных примитивов.</a:t>
            </a:r>
          </a:p>
          <a:p>
            <a:endParaRPr lang="ru-RU" sz="1600" dirty="0"/>
          </a:p>
          <a:p>
            <a:r>
              <a:rPr lang="ru-RU" sz="1600" dirty="0"/>
              <a:t>Визуализация: Связаны </a:t>
            </a:r>
            <a:r>
              <a:rPr lang="ru-RU" sz="1600" dirty="0" err="1"/>
              <a:t>высокодетализированные</a:t>
            </a:r>
            <a:r>
              <a:rPr lang="ru-RU" sz="1600" dirty="0"/>
              <a:t> внешние сетки, экспортированные из </a:t>
            </a:r>
            <a:r>
              <a:rPr lang="ru-RU" sz="1600" dirty="0" err="1"/>
              <a:t>Blender</a:t>
            </a:r>
            <a:r>
              <a:rPr lang="ru-RU" sz="1600" dirty="0"/>
              <a:t>.</a:t>
            </a:r>
          </a:p>
          <a:p>
            <a:endParaRPr lang="ru-RU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2055495" y="2009775"/>
            <a:ext cx="8081010" cy="165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tx1"/>
                </a:solidFill>
                <a:latin typeface="Aptos Display" panose="020B0004020202020204" pitchFamily="34" charset="0"/>
                <a:sym typeface="Montserrat"/>
              </a:rPr>
              <a:t>Спасибо за внимание</a:t>
            </a:r>
            <a:br>
              <a:rPr lang="ru-RU" sz="3600" b="1" dirty="0">
                <a:solidFill>
                  <a:schemeClr val="tx1"/>
                </a:solidFill>
                <a:latin typeface="Aptos Display" panose="020B0004020202020204" pitchFamily="34" charset="0"/>
                <a:sym typeface="Montserrat"/>
              </a:rPr>
            </a:br>
            <a:br>
              <a:rPr lang="ru-RU" sz="3600" b="1" dirty="0">
                <a:solidFill>
                  <a:schemeClr val="tx1"/>
                </a:solidFill>
                <a:latin typeface="Aptos Display" panose="020B0004020202020204" pitchFamily="34" charset="0"/>
                <a:sym typeface="Montserrat"/>
              </a:rPr>
            </a:br>
            <a:endParaRPr b="1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412</Words>
  <Application>Microsoft Office PowerPoint</Application>
  <PresentationFormat>Широкоэкранный</PresentationFormat>
  <Paragraphs>38</Paragraphs>
  <Slides>8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Cambria Math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Разработка 3D-модели в blender</vt:lpstr>
      <vt:lpstr>Создание модели робота в Gazebo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Aldar Armaev</cp:lastModifiedBy>
  <cp:revision>5</cp:revision>
  <dcterms:modified xsi:type="dcterms:W3CDTF">2026-05-30T14:19:20Z</dcterms:modified>
</cp:coreProperties>
</file>