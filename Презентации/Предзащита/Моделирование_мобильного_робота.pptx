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  <p:sldId id="264" r:id="rId9"/>
    <p:sldId id="265" r:id="rId10"/>
    <p:sldId id="266" r:id="rId11"/>
    <p:sldId id="267" r:id="rId12"/>
    <p:sldId id="268" r:id="rId13"/>
    <p:sldId id="261" r:id="rId14"/>
  </p:sldIdLst>
  <p:sldSz cx="12192000" cy="6858000"/>
  <p:notesSz cx="6858000" cy="9144000"/>
  <p:embeddedFontLst>
    <p:embeddedFont>
      <p:font typeface="Cambria Math" panose="02040503050406030204" pitchFamily="18" charset="0"/>
      <p:regular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14" y="2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/>
        </p:nvSpPr>
        <p:spPr>
          <a:xfrm>
            <a:off x="1345406" y="1838325"/>
            <a:ext cx="9501187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Моделирование</a:t>
            </a:r>
            <a:r>
              <a:rPr lang="en-US" sz="3600" b="1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мобильного</a:t>
            </a:r>
            <a:r>
              <a:rPr lang="en-US" sz="3600" b="1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робота</a:t>
            </a:r>
            <a:r>
              <a:rPr lang="en-US" sz="3600" b="1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 с </a:t>
            </a:r>
            <a:r>
              <a:rPr lang="en-US" sz="3600" b="1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дифференциальным</a:t>
            </a:r>
            <a:r>
              <a:rPr lang="en-US" sz="3600" b="1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3600" b="1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приводом</a:t>
            </a:r>
            <a:endParaRPr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209800" y="5219700"/>
            <a:ext cx="4038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Студент</a:t>
            </a:r>
            <a:r>
              <a:rPr lang="en-US" sz="16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 4 </a:t>
            </a:r>
            <a:r>
              <a:rPr lang="en-US" sz="1600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курса</a:t>
            </a:r>
            <a:r>
              <a:rPr lang="en-US" sz="16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: </a:t>
            </a:r>
            <a:r>
              <a:rPr lang="en-US" sz="1600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Держанский</a:t>
            </a:r>
            <a:r>
              <a:rPr lang="en-US" sz="16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 С. А. (</a:t>
            </a:r>
            <a:r>
              <a:rPr lang="en-US" sz="1600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группа</a:t>
            </a:r>
            <a:r>
              <a:rPr lang="en-US" sz="16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 02422-ДБ)</a:t>
            </a:r>
            <a:endParaRPr sz="2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629400" y="5219700"/>
            <a:ext cx="33528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Руководитель</a:t>
            </a:r>
            <a:r>
              <a:rPr lang="en-US" sz="18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: </a:t>
            </a:r>
            <a:r>
              <a:rPr lang="en-US" sz="1800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доцент</a:t>
            </a:r>
            <a:r>
              <a:rPr lang="en-US" sz="18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1800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Вшивков</a:t>
            </a:r>
            <a:r>
              <a:rPr lang="en-US" sz="18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 Ю. Ф. (</a:t>
            </a:r>
            <a:r>
              <a:rPr lang="en-US" sz="1800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к.т.н</a:t>
            </a:r>
            <a:r>
              <a:rPr lang="en-US" sz="18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.)</a:t>
            </a:r>
            <a:endParaRPr sz="24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/>
        </p:nvSpPr>
        <p:spPr>
          <a:xfrm>
            <a:off x="771525" y="2066800"/>
            <a:ext cx="4448175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ru-RU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Изучить кинематику дифференциального робота и разработать его математическую модель.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Разработать 3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</a:t>
            </a:r>
            <a:r>
              <a:rPr lang="ru-RU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-модель робота с дифференциальным приводом в 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Blender</a:t>
            </a:r>
            <a:r>
              <a:rPr lang="ru-RU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Создать модель робота с дифференциальным приводом в среде 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Gazebo</a:t>
            </a:r>
            <a:r>
              <a:rPr lang="ru-RU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923925"/>
            <a:ext cx="11181397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Цели</a:t>
            </a:r>
            <a:r>
              <a:rPr lang="en-US" sz="2850" b="1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 и </a:t>
            </a:r>
            <a:r>
              <a:rPr lang="en-US" sz="2850" b="1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задачи</a:t>
            </a:r>
            <a:r>
              <a:rPr lang="en-US" sz="2850" b="1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2850" b="1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практики</a:t>
            </a:r>
            <a:endParaRPr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/>
          <p:nvPr/>
        </p:nvSpPr>
        <p:spPr>
          <a:xfrm>
            <a:off x="771525" y="923925"/>
            <a:ext cx="11181397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Математическая</a:t>
            </a:r>
            <a:r>
              <a:rPr lang="en-US" sz="2850" b="1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2850" b="1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модель</a:t>
            </a:r>
            <a:r>
              <a:rPr lang="en-US" sz="2850" b="1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2850" b="1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движения</a:t>
            </a:r>
            <a:endParaRPr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80D0DD9-E2CB-2818-3731-372F4DA60BFF}"/>
                  </a:ext>
                </a:extLst>
              </p:cNvPr>
              <p:cNvSpPr txBox="1"/>
              <p:nvPr/>
            </p:nvSpPr>
            <p:spPr>
              <a:xfrm>
                <a:off x="771525" y="1996289"/>
                <a:ext cx="2406112" cy="1244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ru-RU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m:t>Поза робота задается тройкой</m:t>
                      </m:r>
                    </m:oMath>
                  </m:oMathPara>
                </a14:m>
                <a:endParaRPr lang="ru-RU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ru-RU" sz="180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8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  <m:r>
                                  <a:rPr lang="ru-RU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80D0DD9-E2CB-2818-3731-372F4DA60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25" y="1996289"/>
                <a:ext cx="2406112" cy="12441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66158A5-5148-9C75-A2C4-B32FF14209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859" y="2141932"/>
            <a:ext cx="3804188" cy="291264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934D46-19DD-E47B-0805-A0AF78DEC4CA}"/>
              </a:ext>
            </a:extLst>
          </p:cNvPr>
          <p:cNvSpPr txBox="1"/>
          <p:nvPr/>
        </p:nvSpPr>
        <p:spPr>
          <a:xfrm>
            <a:off x="3919870" y="5398318"/>
            <a:ext cx="6098582" cy="384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1000"/>
              </a:spcAft>
            </a:pPr>
            <a:r>
              <a:rPr lang="ru-RU" sz="14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Рисунок 1 – Движение робота по дуге</a:t>
            </a:r>
            <a:endParaRPr lang="ru-RU" sz="900" i="1" dirty="0"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BAF704-BBA6-CDBC-152C-689110B96228}"/>
                  </a:ext>
                </a:extLst>
              </p:cNvPr>
              <p:cNvSpPr txBox="1"/>
              <p:nvPr/>
            </p:nvSpPr>
            <p:spPr>
              <a:xfrm>
                <a:off x="386005" y="3598253"/>
                <a:ext cx="3177152" cy="668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            Матрица поворота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d>
                        <m:dPr>
                          <m:ctrlP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ru-RU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ru-RU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ru-RU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ru-RU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ru-RU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ru-RU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BAF704-BBA6-CDBC-152C-689110B96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05" y="3598253"/>
                <a:ext cx="3177152" cy="668966"/>
              </a:xfrm>
              <a:prstGeom prst="rect">
                <a:avLst/>
              </a:prstGeom>
              <a:blipFill>
                <a:blip r:embed="rId5"/>
                <a:stretch>
                  <a:fillRect t="-909" b="-18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A673CC-9D66-FEAE-BFC0-467D72635C38}"/>
                  </a:ext>
                </a:extLst>
              </p:cNvPr>
              <p:cNvSpPr txBox="1"/>
              <p:nvPr/>
            </p:nvSpPr>
            <p:spPr>
              <a:xfrm>
                <a:off x="481914" y="4862530"/>
                <a:ext cx="3325511" cy="9123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        Расчет скорости каждого колеса</a:t>
                </a:r>
              </a:p>
              <a:p>
                <a:endParaRPr lang="ru-RU" i="1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ru-RU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ru-RU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𝑠𝑡𝑒𝑝</m:t>
                          </m:r>
                        </m:num>
                        <m:den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ru-RU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ru-RU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ru-RU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𝑠𝑡𝑒𝑝</m:t>
                          </m:r>
                        </m:num>
                        <m:den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ru-RU" dirty="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A673CC-9D66-FEAE-BFC0-467D72635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14" y="4862530"/>
                <a:ext cx="3325511" cy="912366"/>
              </a:xfrm>
              <a:prstGeom prst="rect">
                <a:avLst/>
              </a:prstGeom>
              <a:blipFill>
                <a:blip r:embed="rId6"/>
                <a:stretch>
                  <a:fillRect t="-1342" b="-6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C4AD0EC5-9C3F-0233-C239-2E09B59D6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Разработка 3</a:t>
            </a:r>
            <a:r>
              <a:rPr lang="en-US" dirty="0"/>
              <a:t>D-</a:t>
            </a:r>
            <a:r>
              <a:rPr lang="ru-RU" dirty="0"/>
              <a:t>модели в </a:t>
            </a:r>
            <a:r>
              <a:rPr lang="en-US" dirty="0"/>
              <a:t>blender</a:t>
            </a:r>
            <a:endParaRPr lang="ru-RU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6DD98E5-B297-A126-EAE8-806BBFE1C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698460" cy="4525963"/>
          </a:xfrm>
        </p:spPr>
        <p:txBody>
          <a:bodyPr>
            <a:normAutofit fontScale="77500" lnSpcReduction="20000"/>
          </a:bodyPr>
          <a:lstStyle/>
          <a:p>
            <a:r>
              <a:rPr lang="ru-RU" dirty="0">
                <a:latin typeface="Calibri" panose="020F0502020204030204" pitchFamily="34" charset="0"/>
              </a:rPr>
              <a:t>На этапе проектирования в </a:t>
            </a:r>
            <a:r>
              <a:rPr lang="ru-RU" dirty="0" err="1">
                <a:latin typeface="Calibri" panose="020F0502020204030204" pitchFamily="34" charset="0"/>
              </a:rPr>
              <a:t>Blender</a:t>
            </a:r>
            <a:r>
              <a:rPr lang="ru-RU" dirty="0">
                <a:latin typeface="Calibri" panose="020F0502020204030204" pitchFamily="34" charset="0"/>
              </a:rPr>
              <a:t> робот создается не целиком, а моделируется отдельными независимыми компонентами</a:t>
            </a:r>
            <a:r>
              <a:rPr lang="en-US" dirty="0">
                <a:latin typeface="Calibri" panose="020F0502020204030204" pitchFamily="34" charset="0"/>
              </a:rPr>
              <a:t> –</a:t>
            </a:r>
            <a:r>
              <a:rPr lang="ru-RU" dirty="0">
                <a:latin typeface="Calibri" panose="020F0502020204030204" pitchFamily="34" charset="0"/>
              </a:rPr>
              <a:t> корпусом, колесами и датчиками. </a:t>
            </a:r>
          </a:p>
          <a:p>
            <a:r>
              <a:rPr lang="ru-RU" dirty="0">
                <a:latin typeface="Calibri" panose="020F0502020204030204" pitchFamily="34" charset="0"/>
              </a:rPr>
              <a:t>Это необходимо для того, чтобы в дальнейшем правильно описать физические связи, массу и подвижность каждой детали в конфигурационном файле URDF симулятора.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9A50A12-20DC-0327-38E9-B86FDA32D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552" y="1707971"/>
            <a:ext cx="5453766" cy="28382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7890DFB-EFC3-BE2E-45D9-634D5D020972}"/>
              </a:ext>
            </a:extLst>
          </p:cNvPr>
          <p:cNvSpPr txBox="1"/>
          <p:nvPr/>
        </p:nvSpPr>
        <p:spPr>
          <a:xfrm>
            <a:off x="5281394" y="4546269"/>
            <a:ext cx="6098582" cy="384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1000"/>
              </a:spcAft>
            </a:pPr>
            <a:r>
              <a:rPr lang="ru-RU" sz="14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Рисунок 3 – Модель робота в </a:t>
            </a:r>
            <a:r>
              <a:rPr lang="en-US" sz="14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blender</a:t>
            </a:r>
            <a:endParaRPr lang="ru-RU" sz="900" i="1" dirty="0"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855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AC22B5-4D49-B848-E66E-040C1A447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331788"/>
            <a:ext cx="5734050" cy="1143000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Calibri" panose="020F0502020204030204" pitchFamily="34" charset="0"/>
              </a:rPr>
              <a:t>Создание модели робота в </a:t>
            </a:r>
            <a:r>
              <a:rPr lang="en-US" sz="2800" b="1" dirty="0">
                <a:latin typeface="Calibri" panose="020F0502020204030204" pitchFamily="34" charset="0"/>
              </a:rPr>
              <a:t>Gazebo</a:t>
            </a:r>
            <a:endParaRPr lang="ru-RU" sz="2800" b="1" dirty="0">
              <a:latin typeface="Calibri" panose="020F0502020204030204" pitchFamily="34" charset="0"/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C959E8C-CAF9-9293-EF0A-D5EDCBFEF0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76300" y="1598493"/>
            <a:ext cx="6343650" cy="4021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Чтение URDF/SDF: ROS и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Gazebo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считывают XML-файл с параметрами робота: структурой, весом и ссылками на 3D-сетки</a:t>
            </a:r>
            <a:r>
              <a:rPr lang="en-US" altLang="ru-RU" sz="1800" dirty="0">
                <a:solidFill>
                  <a:schemeClr val="tx1"/>
                </a:solidFill>
                <a:latin typeface="Calibri" panose="020F0502020204030204" pitchFamily="34" charset="0"/>
              </a:rPr>
              <a:t>.</a:t>
            </a:r>
            <a:r>
              <a:rPr lang="en-US" altLang="ru-RU" sz="1800" dirty="0" err="1">
                <a:solidFill>
                  <a:schemeClr val="tx1"/>
                </a:solidFill>
                <a:latin typeface="Calibri" panose="020F0502020204030204" pitchFamily="34" charset="0"/>
              </a:rPr>
              <a:t>stl</a:t>
            </a:r>
            <a:r>
              <a:rPr lang="en-US" altLang="ru-RU" sz="1800" dirty="0">
                <a:solidFill>
                  <a:schemeClr val="tx1"/>
                </a:solidFill>
                <a:latin typeface="Calibri" panose="020F0502020204030204" pitchFamily="34" charset="0"/>
              </a:rPr>
              <a:t> .blender.</a:t>
            </a:r>
            <a:endParaRPr kumimoji="0" lang="ru-RU" altLang="ru-RU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Запуск Launch-файла: Скрипт автоматизации одной командой открывает симулятор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Gazebo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и запускает сервер параметров ROS.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Вызов утилиты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spawn_model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: Специальная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нода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передает текстовое описание робота в симулятор и задает начальные координаты $(X=0, Y=0, Z=0)$.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Инициализация физики: </a:t>
            </a:r>
            <a:r>
              <a:rPr kumimoji="0" lang="ru-RU" altLang="ru-RU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Gazebo</a:t>
            </a:r>
            <a:r>
              <a:rPr kumimoji="0" lang="ru-RU" altLang="ru-RU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мгновенно собирает модель, включает гравитацию, просчитывает физику контактов колес с поверхностью и «материализует» робота в мире.</a:t>
            </a:r>
          </a:p>
          <a:p>
            <a:endParaRPr lang="ru-RU" sz="18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298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/>
        </p:nvSpPr>
        <p:spPr>
          <a:xfrm>
            <a:off x="771525" y="923925"/>
            <a:ext cx="11181397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Разработка</a:t>
            </a:r>
            <a:r>
              <a:rPr lang="en-US" sz="2800" b="1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 3D-модели в Gazebo 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pic>
        <p:nvPicPr>
          <p:cNvPr id="3" name="Рисунок 2" descr="Изображение выглядит как снимок экрана, Мультимедийное программное обеспечение, программное обеспечение, Графическое программное обеспечение">
            <a:extLst>
              <a:ext uri="{FF2B5EF4-FFF2-40B4-BE49-F238E27FC236}">
                <a16:creationId xmlns:a16="http://schemas.microsoft.com/office/drawing/2014/main" id="{7A455F6C-0E6B-D84A-E4FA-907A65A987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318" t="13957" r="14825" b="34019"/>
          <a:stretch/>
        </p:blipFill>
        <p:spPr>
          <a:xfrm>
            <a:off x="6362223" y="1951280"/>
            <a:ext cx="5152769" cy="35463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018E91-4085-C025-F4A7-96E378D60B16}"/>
              </a:ext>
            </a:extLst>
          </p:cNvPr>
          <p:cNvSpPr txBox="1"/>
          <p:nvPr/>
        </p:nvSpPr>
        <p:spPr>
          <a:xfrm>
            <a:off x="5889316" y="5862766"/>
            <a:ext cx="6098582" cy="384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1000"/>
              </a:spcAft>
            </a:pPr>
            <a:r>
              <a:rPr lang="ru-RU" sz="14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Рисунок </a:t>
            </a:r>
            <a:r>
              <a:rPr lang="ru-RU" dirty="0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2</a:t>
            </a:r>
            <a:r>
              <a:rPr lang="ru-RU" sz="14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– Модель робота в </a:t>
            </a:r>
            <a:r>
              <a:rPr lang="en-US" sz="14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Gazebo</a:t>
            </a:r>
            <a:endParaRPr lang="ru-RU" sz="900" i="1" dirty="0"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AF90CA-C1A2-4114-2B79-73CE28B86422}"/>
              </a:ext>
            </a:extLst>
          </p:cNvPr>
          <p:cNvSpPr txBox="1"/>
          <p:nvPr/>
        </p:nvSpPr>
        <p:spPr>
          <a:xfrm>
            <a:off x="771525" y="1951280"/>
            <a:ext cx="477279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ru-RU" sz="1800" dirty="0" err="1">
                <a:solidFill>
                  <a:schemeClr val="tx1"/>
                </a:solidFill>
                <a:latin typeface="Calibri" panose="020F0502020204030204" pitchFamily="34" charset="0"/>
              </a:rPr>
              <a:t>Gazebo</a:t>
            </a:r>
            <a:r>
              <a:rPr lang="ru-RU" sz="1800" dirty="0">
                <a:solidFill>
                  <a:schemeClr val="tx1"/>
                </a:solidFill>
                <a:latin typeface="Calibri" panose="020F0502020204030204" pitchFamily="34" charset="0"/>
              </a:rPr>
              <a:t> выполняет роль виртуальной реальности. Он имитирует физические законы: гравитацию, трение колес о поверхность, столкновения с препятствиями и работу датчиков (</a:t>
            </a:r>
            <a:r>
              <a:rPr lang="ru-RU" sz="1800" dirty="0" err="1">
                <a:solidFill>
                  <a:schemeClr val="tx1"/>
                </a:solidFill>
                <a:latin typeface="Calibri" panose="020F0502020204030204" pitchFamily="34" charset="0"/>
              </a:rPr>
              <a:t>Лидара</a:t>
            </a:r>
            <a:r>
              <a:rPr lang="ru-RU" sz="1800" dirty="0">
                <a:solidFill>
                  <a:schemeClr val="tx1"/>
                </a:solidFill>
                <a:latin typeface="Calibri" panose="020F0502020204030204" pitchFamily="34" charset="0"/>
              </a:rPr>
              <a:t>).</a:t>
            </a:r>
            <a:endParaRPr lang="en-US" sz="18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>
              <a:buFont typeface="+mj-lt"/>
              <a:buAutoNum type="arabicPeriod"/>
            </a:pPr>
            <a:endParaRPr lang="ru-RU" sz="18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  <a:latin typeface="Calibri" panose="020F0502020204030204" pitchFamily="34" charset="0"/>
              </a:rPr>
              <a:t>ROS выступает в качестве системы управления. Внутри ROS запускаются алгоритмы (</a:t>
            </a:r>
            <a:r>
              <a:rPr lang="ru-RU" sz="1800" dirty="0" err="1">
                <a:solidFill>
                  <a:schemeClr val="tx1"/>
                </a:solidFill>
                <a:latin typeface="Calibri" panose="020F0502020204030204" pitchFamily="34" charset="0"/>
              </a:rPr>
              <a:t>ноды</a:t>
            </a:r>
            <a:r>
              <a:rPr lang="ru-RU" sz="1800" dirty="0">
                <a:solidFill>
                  <a:schemeClr val="tx1"/>
                </a:solidFill>
                <a:latin typeface="Calibri" panose="020F0502020204030204" pitchFamily="34" charset="0"/>
              </a:rPr>
              <a:t>), которые рассчитывают математическую модель движения, отправляют команды на моторы и обрабатывают данные со сканера.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/>
        </p:nvSpPr>
        <p:spPr>
          <a:xfrm>
            <a:off x="771525" y="923925"/>
            <a:ext cx="11181397" cy="526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Виртуальное</a:t>
            </a:r>
            <a:r>
              <a:rPr lang="en-US" sz="2850" b="1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2850" b="1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окружение</a:t>
            </a:r>
            <a:r>
              <a:rPr lang="en-US" sz="2850" b="1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2850" b="1" i="0" u="none" strike="noStrike" cap="none" dirty="0" err="1">
                <a:solidFill>
                  <a:schemeClr val="tx1"/>
                </a:solidFill>
                <a:latin typeface="Calibri" panose="020F0502020204030204" pitchFamily="34" charset="0"/>
                <a:ea typeface="Montserrat"/>
                <a:cs typeface="Montserrat"/>
                <a:sym typeface="Montserrat"/>
              </a:rPr>
              <a:t>симулятора</a:t>
            </a:r>
            <a:endParaRPr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580EE4F-4A86-196B-AAA5-CC39F19BD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14" y="1807210"/>
            <a:ext cx="6333791" cy="39575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8B4294-B5F2-73D3-E62F-CE8722799825}"/>
              </a:ext>
            </a:extLst>
          </p:cNvPr>
          <p:cNvSpPr txBox="1"/>
          <p:nvPr/>
        </p:nvSpPr>
        <p:spPr>
          <a:xfrm>
            <a:off x="930580" y="6121751"/>
            <a:ext cx="6098058" cy="384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1000"/>
              </a:spcAft>
            </a:pPr>
            <a:r>
              <a:rPr lang="ru-RU" sz="14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Рисунок </a:t>
            </a:r>
            <a:r>
              <a:rPr lang="en-US" sz="14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4</a:t>
            </a:r>
            <a:r>
              <a:rPr lang="ru-RU" sz="14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– Рабочее пространство </a:t>
            </a:r>
            <a:r>
              <a:rPr lang="en-US" sz="14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Gazebo</a:t>
            </a:r>
            <a:endParaRPr lang="ru-RU" sz="900" i="1" dirty="0"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7CCBE8-9063-1F9B-21E1-90DC2F9E2E85}"/>
              </a:ext>
            </a:extLst>
          </p:cNvPr>
          <p:cNvSpPr txBox="1"/>
          <p:nvPr/>
        </p:nvSpPr>
        <p:spPr>
          <a:xfrm>
            <a:off x="7706755" y="1766456"/>
            <a:ext cx="367253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Иерархическая структура: Робот описан через систему твердых тел  и соединяющих их шарниров. </a:t>
            </a:r>
            <a:r>
              <a:rPr lang="ru-RU" sz="1600" dirty="0" err="1"/>
              <a:t>Base_link</a:t>
            </a:r>
            <a:r>
              <a:rPr lang="ru-RU" sz="1600" dirty="0"/>
              <a:t>  является корневым элементом.</a:t>
            </a:r>
          </a:p>
          <a:p>
            <a:endParaRPr lang="ru-RU" sz="1600" dirty="0"/>
          </a:p>
          <a:p>
            <a:r>
              <a:rPr lang="ru-RU" sz="1600" dirty="0"/>
              <a:t>Физические свойства: Для каждого компонента заданы масса (задается в файле </a:t>
            </a:r>
            <a:r>
              <a:rPr lang="en-US" sz="1600" dirty="0" err="1"/>
              <a:t>urdf</a:t>
            </a:r>
            <a:r>
              <a:rPr lang="ru-RU" sz="1600" dirty="0"/>
              <a:t>, так же, как и </a:t>
            </a:r>
            <a:r>
              <a:rPr lang="ru-RU" sz="1600" dirty="0" err="1"/>
              <a:t>инцерция</a:t>
            </a:r>
            <a:r>
              <a:rPr lang="ru-RU" sz="1600" dirty="0"/>
              <a:t>, тензор инерции и геометрия столкновений на основе упрощенных примитивов.</a:t>
            </a:r>
          </a:p>
          <a:p>
            <a:endParaRPr lang="ru-RU" sz="1600" dirty="0"/>
          </a:p>
          <a:p>
            <a:r>
              <a:rPr lang="ru-RU" sz="1600" dirty="0"/>
              <a:t>Визуализация: Связаны </a:t>
            </a:r>
            <a:r>
              <a:rPr lang="ru-RU" sz="1600" dirty="0" err="1"/>
              <a:t>высокодетализированные</a:t>
            </a:r>
            <a:r>
              <a:rPr lang="ru-RU" sz="1600" dirty="0"/>
              <a:t> внешние сетки, экспортированные из </a:t>
            </a:r>
            <a:r>
              <a:rPr lang="ru-RU" sz="1600" dirty="0" err="1"/>
              <a:t>Blender</a:t>
            </a:r>
            <a:r>
              <a:rPr lang="ru-RU" sz="1600" dirty="0"/>
              <a:t>.</a:t>
            </a:r>
          </a:p>
          <a:p>
            <a:endParaRPr lang="ru-RU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86FAF4-4924-D08B-A267-2290FA169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latin typeface="Calibri" panose="020F0502020204030204" pitchFamily="34" charset="0"/>
              </a:rPr>
              <a:t>Создание виртуальной комнаты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541A7D-87CD-412B-A631-012845EFA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559643" cy="4525963"/>
          </a:xfrm>
        </p:spPr>
        <p:txBody>
          <a:bodyPr/>
          <a:lstStyle/>
          <a:p>
            <a:r>
              <a:rPr lang="ru-RU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Для проведения экспериментов внутри помещения были размещены препятствия различной геометрической формы, а также цветные кубы для тестирования алгоритмов компьютерного зрения. </a:t>
            </a:r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7AE4D1-96B9-F226-7B3E-F6987B753D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910" y="1647825"/>
            <a:ext cx="6113780" cy="38385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3F285D-827F-C3B4-4238-0CA522CBCE87}"/>
              </a:ext>
            </a:extLst>
          </p:cNvPr>
          <p:cNvSpPr txBox="1"/>
          <p:nvPr/>
        </p:nvSpPr>
        <p:spPr>
          <a:xfrm>
            <a:off x="5317229" y="5716587"/>
            <a:ext cx="6098058" cy="384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1000"/>
              </a:spcAft>
            </a:pPr>
            <a:r>
              <a:rPr lang="ru-RU" sz="14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Рисунок </a:t>
            </a:r>
            <a:r>
              <a:rPr lang="en-US" sz="14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4</a:t>
            </a:r>
            <a:r>
              <a:rPr lang="ru-RU" sz="14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– Рабочее пространство </a:t>
            </a:r>
            <a:r>
              <a:rPr lang="en-US" sz="14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Gazebo</a:t>
            </a:r>
            <a:endParaRPr lang="ru-RU" sz="900" i="1" dirty="0"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681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B7B49D-D5BF-C238-ED31-1F6819549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latin typeface="Calibri" panose="020F0502020204030204" pitchFamily="34" charset="0"/>
              </a:rPr>
              <a:t>Демонстрация движения робота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29F24E-EEA9-8158-F6D5-8BDC138BF3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Движение робота 16Х">
            <a:hlinkClick r:id="" action="ppaction://media"/>
            <a:extLst>
              <a:ext uri="{FF2B5EF4-FFF2-40B4-BE49-F238E27FC236}">
                <a16:creationId xmlns:a16="http://schemas.microsoft.com/office/drawing/2014/main" id="{E2A006F1-1AC9-AE3B-E699-9FBF5037A90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32674" y="1361071"/>
            <a:ext cx="8326652" cy="522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617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DA551-1954-CD4F-FDD8-C01B03E93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0120184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Модель робота с </a:t>
            </a:r>
            <a:r>
              <a:rPr lang="ru-RU" dirty="0" err="1"/>
              <a:t>лидар</a:t>
            </a:r>
            <a:r>
              <a:rPr lang="ru-RU" dirty="0"/>
              <a:t> датчиком и камерой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FCF99C-11C5-DC75-C282-ACCF92F6B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300151" cy="4525963"/>
          </a:xfrm>
        </p:spPr>
        <p:txBody>
          <a:bodyPr>
            <a:normAutofit fontScale="92500" lnSpcReduction="20000"/>
          </a:bodyPr>
          <a:lstStyle/>
          <a:p>
            <a:r>
              <a:rPr lang="ru-RU" dirty="0" err="1">
                <a:latin typeface="Calibri" panose="020F0502020204030204" pitchFamily="34" charset="0"/>
              </a:rPr>
              <a:t>Лидар</a:t>
            </a:r>
            <a:r>
              <a:rPr lang="ru-RU" dirty="0">
                <a:latin typeface="Calibri" panose="020F0502020204030204" pitchFamily="34" charset="0"/>
              </a:rPr>
              <a:t> датчик обеспечивает круговое сканирование окружающего пространства и позволяет получать данные о расстоянии до стен помещения и расположенных в нём препятствий.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30F2FC4-5119-A61F-1790-B661D2312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3849" y="1600200"/>
            <a:ext cx="7007191" cy="45926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3606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E31B37-58E6-8BA0-122D-B3C757944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Структура модели робота в файле </a:t>
            </a:r>
            <a:r>
              <a:rPr lang="ru-RU" sz="18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robot.urdf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F35AA4-4CB2-59E1-BC44-492B13338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162800" cy="4525963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36DFFD3-2E8D-85B0-F8C2-0D0C56574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1647825"/>
            <a:ext cx="3904657" cy="440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322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46C045-3A11-1737-475C-B37885009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8786B7-538F-54D5-0501-06ABB9008F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E0DA696-F146-9D3F-203B-2B6CB36CB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1235" y="1919763"/>
            <a:ext cx="6119495" cy="38868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0526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/>
        </p:nvSpPr>
        <p:spPr>
          <a:xfrm>
            <a:off x="2055495" y="2009775"/>
            <a:ext cx="8081010" cy="165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>
                <a:solidFill>
                  <a:schemeClr val="tx1"/>
                </a:solidFill>
                <a:latin typeface="Calibri" panose="020F0502020204030204" pitchFamily="34" charset="0"/>
                <a:sym typeface="Montserrat"/>
              </a:rPr>
              <a:t>Спасибо за внимание</a:t>
            </a:r>
            <a:br>
              <a:rPr lang="ru-RU" sz="3600" b="1" dirty="0">
                <a:solidFill>
                  <a:schemeClr val="tx1"/>
                </a:solidFill>
                <a:latin typeface="Calibri" panose="020F0502020204030204" pitchFamily="34" charset="0"/>
                <a:sym typeface="Montserrat"/>
              </a:rPr>
            </a:br>
            <a:br>
              <a:rPr lang="ru-RU" sz="3600" b="1" dirty="0">
                <a:solidFill>
                  <a:schemeClr val="tx1"/>
                </a:solidFill>
                <a:latin typeface="Calibri" panose="020F0502020204030204" pitchFamily="34" charset="0"/>
                <a:sym typeface="Montserrat"/>
              </a:rPr>
            </a:br>
            <a:endParaRPr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Другая 8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483</Words>
  <Application>Microsoft Office PowerPoint</Application>
  <PresentationFormat>Широкоэкранный</PresentationFormat>
  <Paragraphs>45</Paragraphs>
  <Slides>13</Slides>
  <Notes>6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Cambria Math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Разработка 3D-модели в blender</vt:lpstr>
      <vt:lpstr>Создание модели робота в Gazebo</vt:lpstr>
      <vt:lpstr>Презентация PowerPoint</vt:lpstr>
      <vt:lpstr>Презентация PowerPoint</vt:lpstr>
      <vt:lpstr>Создание виртуальной комнаты</vt:lpstr>
      <vt:lpstr>Демонстрация движения робота</vt:lpstr>
      <vt:lpstr>Модель робота с лидар датчиком и камерой</vt:lpstr>
      <vt:lpstr>Структура модели робота в файле robot.urdf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Aldar Armaev</cp:lastModifiedBy>
  <cp:revision>6</cp:revision>
  <dcterms:modified xsi:type="dcterms:W3CDTF">2026-06-01T19:33:18Z</dcterms:modified>
</cp:coreProperties>
</file>